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2926080" cy="3657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PORTFOLIO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8FAFC"/>
                </a:solidFill>
              </a:defRPr>
            </a:pPr>
            <a:r>
              <a:t>International Basketball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20 Years of FIBA Competitions (2005–2024): An End-to-End Data, ML &amp; Decision Support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10362895" cy="1371600"/>
          </a:xfrm>
          <a:prstGeom prst="roundRect">
            <a:avLst/>
          </a:prstGeom>
          <a:solidFill>
            <a:srgbClr val="12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Python + R + DuckDB + Parquet  |  1,145 Games  |  27,353 Player Records  |  227 Automated Tests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Miguel — Basketball Data Analyst &amp; Quantitative Scout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Summary: From Raw Data to Court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 complete data engineering and predictive pipeline built for professional basketball decision-makers.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01. Data Foundation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18 senior FIBA tournaments (EuroBasket, World Cup, Olympics) structured into an OLAP DuckDB warehouse with 12 normalized tables.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EA580C"/>
                </a:solidFill>
              </a:defRPr>
            </a:pPr>
            <a:r>
              <a:t>02. Advanced Metrics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Dean Oliver Four Factors normalized to pace, True Shooting %, and longitudinal career stability via Bayesian shrinkage.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16A34A"/>
                </a:solidFill>
              </a:defRPr>
            </a:pPr>
            <a:r>
              <a:t>03. Machine Learning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Chronological 17-fold walk-forward validation (1,105 test games). Brier Score 0.1967 (vs 0.2500 naive) and ECE 0.0314.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04. Decision Support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1.5-page pre-game coaching briefs, 6 objective player archetypes, and anti-hindsight validation mode.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Core Value: Reducing tactical uncertainty while preserving coaching intuition.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ACT I: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Analytics Challenge in Professional Basketball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Why traditional boxscores and 40-page scouting dossiers fail modern coaching staffs.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The Status Quo: Information Overload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Scouting reports are flooded with raw totals (PPG, RPG) that ignore pace and lineup context.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Short-tournament variance (6-9 games) misleads decision-makers into over-valuing shooting hot streaks.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Models trained with random k-fold suffer from temporal data leakage, learning future tactical eras.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Analysts deliver disconnected charts instead of structured pre-game decision questions.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Our Solution: The Data-First Pipeline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Pace-neutral Four Factors isolate true possession efficiency.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Bayesian shrinkage (lambda = 0.75) stabilizes small-sample noise toward historical priors.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Strict walk-forward expanding window guarantees zero future contamination.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Concise 1.5-page coaching briefs delivering actionable tactical hypotheses before tip-off.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2743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0284C7"/>
                </a:solidFill>
              </a:defRPr>
            </a:pPr>
            <a: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926080"/>
            <a:ext cx="228600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Data Architecture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From Raw Historical Archives to In-Process Columnar OLAP with DuckDB and Parquet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Historical Scope &amp; Canonical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Two decades of international men's senior basketball verified with SHA-256 cryptographic provenance.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6576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1,145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OFFICIAL MATCHES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Every game across 18 FIBA tournaments (2005–2024).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4688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6576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18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TOURNAMENTS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EuroBasket (2005-2022), FIBA World Cup (2006-2023), Olympics (2008-2024).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4688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6576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27,353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PLAYER PERFORMANCES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Individual boxscore game logs across all 18 tournaments.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4688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6576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2,124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CANONICAL PLAYERS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Deterministic entity resolution mapping names across 20 years.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Integrity: 100% immutable data lake with zero external live API dependencies.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Medallion Data Warehouse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Decoupled pipeline separating ingestion, relational validation, columnar storage, and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01_RAW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HTML/JSON Lake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18 tournament source archives stored for full offline reproducibility.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4688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02_VALIDATED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DuckDB Warehouse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12 relational tables (28.5 MB uncompressed) with 3NF integrity.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4688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300" b="1">
                <a:solidFill>
                  <a:srgbClr val="16A34A"/>
                </a:solidFill>
              </a:defRPr>
            </a:pPr>
            <a:r>
              <a:t>03_ANALYTICS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Apache Parquet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11 high-performance columnar marts optimized for vectorized queries.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4688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300" b="1">
                <a:solidFill>
                  <a:srgbClr val="7C3AED"/>
                </a:solidFill>
              </a:defRPr>
            </a:pPr>
            <a:r>
              <a:t>04_DELIVERY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Python &amp; R APIs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Dual-engine consumption for ML training, statistical EDA, and briefs.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Performance: Sub-millisecond aggregations on 27k+ player rows directly in-memory.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Automated Quality Assurance &amp; Invariants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Rigorous mathematical contracts enforced prior to any statistical modeling.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200 Minutes / Game Rule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Every 40-minute regulation game strictly verifies exactly 200 player-minutes (plus 25 min per 5-min overtime). Any mismatch fails the pipeline.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Score &amp; Boxscore Closure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Sum of points (2P + 3P + FT) is reconciled against official final match scores. Zero scoring discrepancies across 1,145 games.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Entity Resolution Engine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Unified 2,124 players across language variants, accents, and name changes (e.g. Dirk Nowitzki, Bojan vs Bogdan Bogdanovic) using custom slug hashing.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Quality Standard: Corrupt data yields corrupt decisions. We validate before we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2743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0284C7"/>
                </a:solidFill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926080"/>
            <a:ext cx="228600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Analytics &amp; Modeling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Pace Normalization, Longitudinal Stability, Player Archetypes, and Calibrated Machine Learning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METRICS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Pace Normalization &amp; Dean Oliver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Decomposing basketball efficiency into four fundamental, pace-neutral drivers.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Effective FG% (eFG%) — Shooting Efficiency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Weights 3-pointers at 1.5x. Accounts for shot quality differences.</a:t>
            </a:r>
          </a:p>
          <a:p>
            <a:pPr>
              <a:defRPr sz="1000" b="1">
                <a:solidFill>
                  <a:srgbClr val="0284C7"/>
                </a:solidFill>
              </a:defRPr>
            </a:pPr>
            <a:r>
              <a:t>eFG% = (FGM + 0.5 * 3PM) / FGA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120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EA580C"/>
                </a:solidFill>
              </a:defRPr>
            </a:pPr>
            <a:r>
              <a:t>Turnover Rate (TOV%) — Ball Security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Measures possessions ending in turnover per 100 plays.</a:t>
            </a:r>
          </a:p>
          <a:p>
            <a:pPr>
              <a:defRPr sz="1000" b="1">
                <a:solidFill>
                  <a:srgbClr val="0284C7"/>
                </a:solidFill>
              </a:defRPr>
            </a:pPr>
            <a:r>
              <a:t>TOV% = TOV / (FGA + 0.44 * FTA + TOV)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16A34A"/>
                </a:solidFill>
              </a:defRPr>
            </a:pPr>
            <a:r>
              <a:t>Off. Rebounding (ORB%) — Second Chances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Percentage of available offensive rebounds secured.</a:t>
            </a:r>
          </a:p>
          <a:p>
            <a:pPr>
              <a:defRPr sz="1000" b="1">
                <a:solidFill>
                  <a:srgbClr val="0284C7"/>
                </a:solidFill>
              </a:defRPr>
            </a:pPr>
            <a:r>
              <a:t>ORB% = ORB / (ORB + Opp_DRB)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120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7C3AED"/>
                </a:solidFill>
              </a:defRPr>
            </a:pPr>
            <a:r>
              <a:t>Free Throw Rate (FTR) — Foul Drawing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Ratio of free throw attempts to field goal attempts.</a:t>
            </a:r>
          </a:p>
          <a:p>
            <a:pPr>
              <a:defRPr sz="1000" b="1">
                <a:solidFill>
                  <a:srgbClr val="0284C7"/>
                </a:solidFill>
              </a:defRPr>
            </a:pPr>
            <a:r>
              <a:t>FTR = FTA / FGA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Pace Neutrality: Comparing 65-possession games directly against 85-possession games.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LONGITUDINAL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Overcoming Small-Sample Tournament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Using Bayesian shrinkage (lambda = 0.75) and cluster bootstrap to separate luck from skill.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The Small-Sample Trap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In a 7-game tournament, a 15/30 3-point shooter registers 50%. A swing of just 3 shots drops him to 40%. Evaluating players on raw short-term percentages produces severe tactical misjudgments.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Bayesian Shrinkage (lambda = 0.75)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We contract short-sample shooting metrics toward the player's historical career prior weighted by possession volume. High-volume players shrink less; low-volume samples regress toward baseline.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Cluster Bootstrap (B = 5,000)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We generate 95% non-parametric confidence bands across 3,767 qualified player campaigns (&gt;= 40 min), providing coaches with realistic uncertainty intervals.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Longitudinal Asset: Tracking true shooting evolution across legends (Gasol, Nowitzki, Bogdanovic).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PLAYER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6 Objective Functional Archetypes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Clustering 3,767 player campaigns via K-Means++ and PCA on 14 normalized per-40 metrics.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Primary Initiator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High usage, primary P&amp;R handler, elite shot creation and passing volume.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EA580C"/>
                </a:solidFill>
              </a:defRPr>
            </a:pPr>
            <a:r>
              <a:t>Floor Spacer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High 3P volume, catch-and-shoot specialist, low interior touches, elite spacing.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6A34A"/>
                </a:solidFill>
              </a:defRPr>
            </a:pPr>
            <a:r>
              <a:t>Interior Hub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Post playmaker, rim finisher, high offensive rebounding and short-roll passer.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Floor General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Pure playmaker, exceptional assist-to-turnover ratio, low turnover rate, tempo controller.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93192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Defensive Anchor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Rim protector, elite defensive rebounder, screen-and-roll finisher, low usage.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93192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EA580C"/>
                </a:solidFill>
              </a:defRPr>
            </a:pPr>
            <a:r>
              <a:t>Balanced Wing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Versatile two-way wing, secondary creator, switchable defender, balanced shot profile.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Scouting Value: Moving beyond rigid 1-5 positions to evaluate true roster complement.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PREDICTIVE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Calibrated Machine Learning: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Probabilistic match forecasting regularized with L2 penalty and isotonic calibration.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45720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0.1967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BRIER SCORE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vs 0.2500 naive baseline (+21.3% quadratic error reduction).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3832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45720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0.0314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CALIBRATION ERROR (ECE)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Expected Calibration Error: within 3.14% of perfect calibration.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3832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45720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11.74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POINT MARGIN MAE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Mean Absolute Error in point spread across 1,105 test matches.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Honest Probability: An event assigned 70% probability occurs exactly 7 out of 10 times.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VALIDATION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17-Fold Temporal Walk-Forward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Strict expanding-window splits preventing temporal data leakage.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Fold 01 | Train: EuroBasket 2005 -&gt; Test: FIBA World Cup 2006 (Out-of-sample)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Fold 05 | Train: 2005–2009 Tournaments -&gt; Test: FIBA World Cup 2010 (Out-of-sample)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79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Fold 11 | Train: 2005–2016 Tournaments -&gt; Test: FIBA EuroBasket 2017 (Out-of-sample)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9204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Fold 17 | Train: 2005–2023 Tournaments -&gt; Test: Paris Olympic Games 2024 (Out-of-sample)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Why Walk-Forward Matters: Random K-Fold leaks modern 3-point volume into past eras.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TOURNAMENT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Monte Carlo Tournament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180,000 full-bracket simulations combining calibrated probabilities and ratings.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Dynamic Bracket Flow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Simulates group stages, tie-breakers, and knockout brackets accounting for match sequence and cumulative fatigue.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Shrinkage toward Mean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Applies Bayesian shrinkage to pre-tournament ratings to prevent over-reacting to preliminary round upsets.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Scenario Sensitivity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Enables coaching staff to test 'what-if' roster changes or key injury impacts before tournament commencement.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Output: Probabilistic medal probabilities and conditional matchup trees.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DECISION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Interactive Workspace &amp; Anti-Hindsight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Isolating pre-game evidence states at T-30, T-7, T-1, and Game Day to eliminate hindsight bias.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Temporal Quarantine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The system hides post-game outcomes, forcing the analyst to evaluate the exact pre-game information available before tip-off.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Multi-Layer Evidence Matrix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Synthesizes Four Factors, shot zones, archetype matchups, and predictive ratings in one unified 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Automated Inconsistency Alerts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Flags statistical red flags (e.g. low-sample shooting spikes vs career priors) before they reach the coach.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Interactive Tool: Streamlit workspace runnable locally with `streamlit run`.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2743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0284C7"/>
                </a:solidFill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926080"/>
            <a:ext cx="228600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Selected Case Studies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Four Applied Demonstrations: Tactical Support, Data Engineering, ML Rigor, and Longitudinal R Analysis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CASE STUDY 01 : TACTICAL DECISION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From Data to the Whiteboard: Beijing 2008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How pre-game analytics framed the tactical strategy for Spain vs. USA 'Redeem Team'.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Quantitative Pre-Game Signals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Context: Spain lost by 37 pts (82-119) in group phase against USA.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Half-Court Signal: In 5v5 half-court sets, Spain held a +4.2 Net Rating advantage via Gasol brothers inside.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Transition Vulnerability: USA scored 1.25 PPP on transition off turnovers.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Defensive Flaw: USA bigs dropped deep into paint to pack driving lanes.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Tactical Whiteboard Brief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Pace Control: Limit total possessions below 72 using 16+ second attacks.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Transition Defense: Implement 2-3 matchup zone immediately after made baskets.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Pick-and-Pop Spacing: Exploit deep drop with 3-pointers from Pau, Marc, and Garbajosa.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Court Outcome: Spain cut deficit to 4 pts (108-104) at 2:20; final 107-118.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Demonstration: Turning complex data into 3 concrete tactical questions for the head coach.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CASE STUDY 02 : SPORTS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In-Process OLAP Lakehouse with DuckDB &amp; Parquet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Deterministic data engineering for 20 years of heterogeneous international tournaments.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Engineering Challenges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Heterogeneous FIBA Boxscores across 2005-2024 with varying column conventions.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Diacritic Name Variations across international alphabets (Nowitzki, Spanoulis, Bogdanovic).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Zero Cloud Infrastructure cost constraint: 100% offline local reproducibility.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Dual-Language Access: Zero-copy querying from both Python and 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Architecture Solutions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DuckDB Relational Engine: 12 tables, Star Schema, in-process ACID transactions.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11 Apache Parquet Marts: Snappy-compressed columnar storage with SHA-256 hashes.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Deterministic Entity Resolver: 2,124 canonical player IDs without paid commercial APIs.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Automated QA Suite: 227 tests in pytest enforcing 200 min/game invariants.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Demonstration: Production-quality data engineering capable of scaling to domestic leagues.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CASE STUDY 03 : MACHINE LEARNING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Zero-Leakage ML with 17 Chronological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Avoiding temporal leakage and delivering calibrated probabilities for tournament play.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Methodological Traps Avoided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Random K-Fold Cross-Validation leaks future playstyle evolution into past evaluations.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Over-confident predictions: raw neural nets produce uncalibrated probabilities in short events.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Overfitting on small samples: complex models over-index on single-game tournament anomalies.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Causal Overclaiming: confusing feature importance with tactical ground truth.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Rigorous ML Protocol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Expanding Window: 17 folds evaluating strictly unseen tournaments (1,105 test games).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LightGBM with L2 Regularization on pre-game Four Factors differentials.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Isotonic Probability Calibration: Brier Score 0.1967 (vs 0.2500 naive), ECE 0.0314.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TreeSHAP Attribution: Interpretable local feature contribution without causal exaggeration.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Demonstration: Scientific honesty and calibrated probability estimation.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CASE STUDY 04 : R &amp; STATISTICAL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Longitudinal Shooting &amp; Role Mining in R / Quarto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Multi-year player evaluation, non-parametric bootstrap, and reproducible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Statistical Analysis in R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Direct DuckDB Connection via DBI: Zero data duplication between Python and R.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Longitudinal Career Tracking: 3,767 qualified player campaigns (&gt;=40 minutes).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Cluster Bootstrap (B = 5,000): Non-parametric 95% confidence intervals for True Shooting %.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Rebounding &amp; Turnover Stability: Higher year-over-year correlation (r &gt; 0.65) than 3P%.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Clustering &amp; Quarto Reporting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PCA Decomposition: First 3 principal components explain &gt;60% of player variance.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K-Means++ Clustering: Discovery of 6 functional archetypes based on 14 normalized metrics.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Quarto CLI Pipeline: Automated compilation into interactive HTML report with ggplot2.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Custom Visualization: `theme_basketball_analytics()` with 300 DPI vector exports.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Demonstration: Advanced R, tidyverse, statistical inference, and reproducible reporting.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2743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0284C7"/>
                </a:solidFill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926080"/>
            <a:ext cx="228600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Validation &amp; Engineering 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227 Automated Pytest Tests, Cross-Language Verification, and Deterministic Master Runner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ENGINEERING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227 Automated Regression Tests (100% Pass)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Continuous integration test suite covering 26 specialized test modules.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Data Integrity &amp; Invariants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Validates 200 min/game, boxscore closure, SHA-256 hashes, DuckDB schemas, and column contracts across all 18 tournaments.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Analytical &amp; ML Precision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Tests walk-forward temporal splits, Brier Score bounds, ECE limits, Monte Carlo distribution bounds, and SHAP attribution coherence.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Portfolio &amp; Cross-Language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Verifies R-DuckDB parity, Quarto compilation, publication package completeness, and zero prohibited marketing buzzwords.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Execution Speed: Full suite executes in ~2 minutes on standard hardware.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INTEROPERABILITY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Cross-Language Parity: Python + R + DuckDB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Ensuring identical analytical results regardless of execution environment.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Unified Warehouse — Single `basketball_analytics.duckdb` file accessed concurrently by Python (`duckdb`) and R (`DBI::dbConnect`).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16A34A"/>
                </a:solidFill>
              </a:defRPr>
            </a:pPr>
            <a:r>
              <a:t>Zero Discrepancy — Exact match on 1,145 games, 2,290 team rows, 27,353 player boxscores, and 4,350 qualified records.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79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Metric Synchronization — Identical eFG% (0.5355), Pace (61.72), and 3P Attempt Rate (0.3153) across Python and R pipelines.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9204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7C3AED"/>
                </a:solidFill>
              </a:defRPr>
            </a:pPr>
            <a:r>
              <a:t>Decoupled Design — Python handles ETL/ML; R handles statistical inference and visualization; Parquet provides columnar handoff.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Verified: Deterministic script `scripts/verify_cross_language.py` checks parity automatically.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ONE-COMMAND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Deterministic End-to-End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Run the entire project verification pipeline with a single master command.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640080"/>
          </a:xfrm>
          <a:prstGeom prst="roundRect">
            <a:avLst/>
          </a:prstGeom>
          <a:solidFill>
            <a:srgbClr val="121E42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$ python scripts/run_project.py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24688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1. Environment Check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Verifies Python 3.10+, R 4.4+, DuckDB, PyArrow, LightGBM, Pandas, and Pytest.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468880"/>
            <a:ext cx="24688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1400" b="1">
                <a:solidFill>
                  <a:srgbClr val="EA580C"/>
                </a:solidFill>
              </a:defRPr>
            </a:pPr>
            <a:r>
              <a:t>2. Warehouse Check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Validates DuckDB database (16.8 MB) and 11 Parquet analytical marts.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68880"/>
            <a:ext cx="24688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1400" b="1">
                <a:solidFill>
                  <a:srgbClr val="16A34A"/>
                </a:solidFill>
              </a:defRPr>
            </a:pPr>
            <a:r>
              <a:t>3. R Analysis Pipeline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Executes R statistical scripts and generates figures in reports/figures_r/ in ~21s.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2468880"/>
            <a:ext cx="24688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1400" b="1">
                <a:solidFill>
                  <a:srgbClr val="7C3AED"/>
                </a:solidFill>
              </a:defRPr>
            </a:pPr>
            <a:r>
              <a:t>4. Pytest Regression Suite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Runs all 227 automated tests with 100% pass rate in ~2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Zero Live Dependencies: Everything needed is packaged inside the repository.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2743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0284C7"/>
                </a:solidFill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926080"/>
            <a:ext cx="228600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Limitations &amp; Professional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Scientific Honesty, Transparent Boundaries, and Operational Value for Basketball Clubs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METHODOLOGICAL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Transparent Boundaries: What the System Claims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Clear distinction between data-backed capabilities and operational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What the System DEMONSTRATES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Pace-neutral Four Factors and True Shooting evaluation.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Longitudinal Bayesian shrinkage to control short-tournament variance.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Strict out-of-sample calibrated match probability modeling.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Structured pre-game briefs that ask the right tactical questions.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Fully reproducible in-process OLAP data lakehouse.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What the System DOES NOT Claim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No 25Hz live optical tracking (no Second Spectrum camera telemetry).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No automatic game decisions: data structures evidence, coach decides.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No infallible betting prediction: models estimate uncertainty.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No causal guarantees: statistical associations are not mechanical laws.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No real-time in-game bench tracking (focused on pre/post game).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Scientific Integrity: Honest analytics earns the trust of coaching staffs.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ORGANIZATIONAL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Value by Organizational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How different stakeholders in a basketball club extract value from this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Head Coach &amp; Assistants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Saves 15+ hours/week by synthesizing rival scouting into 1.5-page pre-game briefs with Four Factors and P&amp;R drop alerts.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Sporting Director &amp; Scouts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Filters out small-sample shooting noise with Bayesian shrinkage and audits roster complement via 6 objective functional archetypes.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Analytics Lead &amp; CTO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Provides a zero-cloud-cost, 227-test verified OLAP foundation in DuckDB and Parquet, ready for domestic league 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Design Focus: Built for immediate operational adoption in professional basketball environments.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PRACTICAL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Day-1 Club Onboarding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How this system adapts to domestic club leagues (ACB, EuroLeague, BBL, NBA).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Days 1–10: Data Ingestion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Connect domestic league boxscores (Genius Sports, Synergy, EuroLeague API) into the DuckDB raw staging layer.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Days 11–20: Metric Customization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Calibrate Four Factors baselines and Bayesian priors for the domestic league's specific pace and refereeing trends.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7373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Days 21–30: Staff Integration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Deliver automated weekly pre-game briefs directly to coaching staff and train video coordinators on inconsistency alerts.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Ready to Deploy: Modular architecture designed for seamless data source substitution.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 disciplined, reproducible approach to basketball quantitative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1. Data-First &amp; Rigorous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20 years of FIBA tournaments structured in DuckDB and Parquet with 227 automated tests and zero data leakage.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EA580C"/>
                </a:solidFill>
              </a:defRPr>
            </a:pPr>
            <a:r>
              <a:t>2. Calibrated Machine Learning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Brier Score 0.1967 and ECE 0.0314 across 17 chronological folds (1,105 test matches).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16A34A"/>
                </a:solidFill>
              </a:defRPr>
            </a:pPr>
            <a:r>
              <a:t>3. Actionable Tactical Impact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1.5-page briefs that ask concrete questions for the whiteboard instead of dumping raw statistical charts.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4. Transparent &amp; Reproducible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Complete open-source pipeline executed with a single command on GitHub.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75569"/>
                </a:solidFill>
              </a:defRPr>
            </a:pPr>
            <a:r>
              <a:t>Core Philosophy: Data structures evidence. The coach decides the game.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3474720" cy="3657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PROJECT REPOSITORY &amp; CITATION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International Basketball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Explore the Full Open-Source Codebase, Case Studies, and Automated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40480"/>
            <a:ext cx="10362895" cy="2011680"/>
          </a:xfrm>
          <a:prstGeom prst="roundRect">
            <a:avLst/>
          </a:prstGeom>
          <a:solidFill>
            <a:srgbClr val="12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GitHub Repository: https://github.com/miguelo0203/basketball-analytics</a:t>
            </a:r>
          </a:p>
          <a:p>
            <a:pPr>
              <a:defRPr sz="1400">
                <a:solidFill>
                  <a:srgbClr val="16A34A"/>
                </a:solidFill>
              </a:defRPr>
            </a:pPr>
            <a:r>
              <a:t>Release v1.0.0 (Data-First, Verified, MIT License)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Citation: CITATION.cff (CFF v1.2.0)  |  Author: Miguel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