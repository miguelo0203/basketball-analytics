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INTERNATIONAL BASKETBALL ANALYTICS</a:t>
            </a:r>
          </a:p>
          <a:p>
            <a:pPr>
              <a:spcBef>
                <a:spcPts val="1400"/>
              </a:spcBef>
              <a:defRPr sz="2000">
                <a:solidFill>
                  <a:srgbClr val="0284C7"/>
                </a:solidFill>
              </a:defRPr>
            </a:pPr>
            <a:r>
              <a:t>De los datos a la evidencia para apoyar decisiones de baloncesto</a:t>
            </a:r>
          </a:p>
          <a:p>
            <a:pPr>
              <a:spcBef>
                <a:spcPts val="4000"/>
              </a:spcBef>
              <a:defRPr sz="1400">
                <a:solidFill>
                  <a:srgbClr val="94A3B8"/>
                </a:solidFill>
              </a:defRPr>
            </a:pPr>
            <a:r>
              <a:t>2005–2024  |  Basketball Data Analyst Portfolio  |  Miguel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INTERNATIONAL BASKETBALL ANALYTICS (2005–2024)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La Idea en 30 Segundos: Convertir Complejidad en Evidencia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El Propósito Fundamental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49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F172A"/>
                </a:solidFill>
              </a:defRPr>
            </a:pPr>
            <a:r>
              <a:t>Construí un sistema analítico reproducible que combina datos de partido, rendimiento individual, contexto competitivo, validación táctica en vídeo y modelado estadístico para transformar información heterogénea en evidencia accionable que un entrenador o director deportivo pueda interpretar y utilizar con confianza.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201168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1.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389120"/>
            <a:ext cx="1737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Actas oficiales FIBA y hashes SHA-256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3931920"/>
            <a:ext cx="201168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406908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2. ANÁLISIS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4389120"/>
            <a:ext cx="1737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Four Factors, ritmo y roles funcionales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3931920"/>
            <a:ext cx="201168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406908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3. VALIDACIÓN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4389120"/>
            <a:ext cx="1737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17 Folds walk-forward y vídeo (κ=0.80)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199" y="3931920"/>
            <a:ext cx="201168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406908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4. CONTEXTO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59" y="4389120"/>
            <a:ext cx="1737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Aislamiento temporal anti-hindsight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09760" y="3931920"/>
            <a:ext cx="201168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0" y="406908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5. DECISIÓN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6920" y="4389120"/>
            <a:ext cx="1737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Briefs prepartido con preguntas clave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INTERNATIONAL BASKETBALL ANALYTICS (2005–2024)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¿Qué Problema Resuelve un Analista de Baloncesto?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El Desafío del Cuerpo Técnico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• Sobrecarga de boxscores y números descontextualizados.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• Muestras pequeñas de torneo (6–9 partidos) con alta varianza de tiro.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• Sesgo retrospectivo (evaluar la decisión por el resultado final).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• Brecha entre analítica cuantitativa y la pizarra de los entrenadores.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• Falta de cuantificación honesta de la incertidumbre.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48056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El Valor Real del Analista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✔ Filtrar el ruido estadístico mediante baselines robustos.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✔ Unir las métricas avanzadas (Four Factors) con la cinta de vídeo.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✔ Superficiar contradicciones ocultas entre datos y sensaciones.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✔ Entregar briefs prepartido concisos (1.5 páginas, 2.5 min de lectura).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✔ Formular preguntas tácticas concretas para el cuerpo técnico.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INTERNATIONAL BASKETBALL ANALYTICS (2005–2024)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Qué Construí: Arquitectura Integral Desacoplada en 9 Capas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1. Data Ingestion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Parseo de actas FIBA y firmas SHA-256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830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2. Data Quality &amp; 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1488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DuckDB relacional con 12 tablas normalizadas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7830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3. Basketball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21488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Four Factors de Oliver, Pace y Net Rating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00400"/>
            <a:ext cx="338328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33756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4. Player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033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K-Means++ y PCA en 3.767 campañas (K=6)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200400"/>
            <a:ext cx="338328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333756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5. Tactical 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7033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Vídeo doblemente codificado (420 clips, κ=0.80)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3200400"/>
            <a:ext cx="338328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333756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6. Machine Learning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37033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LightGBM con 17 folds walk-forward (ECE=0.0314)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754880"/>
            <a:ext cx="338328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89204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7. Tournament Simulation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2578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180.000 iteraciones Monte Carlo con shrinkage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4754880"/>
            <a:ext cx="338328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489204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8. Decision Synthesis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52578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Matriz de 8 capas y motor de contradicciones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4754880"/>
            <a:ext cx="338328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489204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9. Operational Workspace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80" y="52578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Streamlit interactivo con aislamiento anti-hindsight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INTERNATIONAL BASKETBALL ANALYTICS (2005–2024)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Escala y Cobertura Histórica Verificada (2005–2024)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284C7"/>
                </a:solidFill>
              </a:defRPr>
            </a:pPr>
            <a:r>
              <a:t>18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Torneos Internacionales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EuroBasket, Copa del Mundo FIBA y JJ.OO.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56032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178308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284C7"/>
                </a:solidFill>
              </a:defRPr>
            </a:pPr>
            <a:r>
              <a:t>1,145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Partidos Oficiales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Cobertura longitudinal completa de 20 años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56032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78308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284C7"/>
                </a:solidFill>
              </a:defRPr>
            </a:pPr>
            <a:r>
              <a:t>27,353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Actuaciones de Jugador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Registros individuales en fact_player_game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45920"/>
            <a:ext cx="256032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178308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284C7"/>
                </a:solidFill>
              </a:defRPr>
            </a:pPr>
            <a:r>
              <a:t>3,767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Campañas Cualificadas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Jugadores con &gt;= 40 minutos en el torneo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256032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06908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284C7"/>
                </a:solidFill>
              </a:defRPr>
            </a:pPr>
            <a:r>
              <a:t>6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Arquetipos Funcionales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Roles minados por K-Means++ y PCA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3931920"/>
            <a:ext cx="256032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406908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284C7"/>
                </a:solidFill>
              </a:defRPr>
            </a:pPr>
            <a:r>
              <a:t>17 Folds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Walk-Forward Folds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1.105 partidos evaluados out-of-sample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931920"/>
            <a:ext cx="256032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406908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284C7"/>
                </a:solidFill>
              </a:defRPr>
            </a:pPr>
            <a:r>
              <a:t>180k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Simulaciones Monte Carlo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10.000 iteraciones por campeonato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3931920"/>
            <a:ext cx="256032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406908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284C7"/>
                </a:solidFill>
              </a:defRPr>
            </a:pPr>
            <a:r>
              <a:t>195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Tests Automatizados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100% de tasa de éxito en suite pytest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INTERNATIONAL BASKETBALL ANALYTICS (2005–2024)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Calidad de Datos: 'Un Análisis Sofisticado con Malos Datos es Incorrecto'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Pipeline de QA Determinista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1. Ingesta Bruta &amp; Hash SHA-256: Congelación inmutable del origen.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2. Resolución de Entidades: 2.124 jugadores unificados sin duplicados tipográficos.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3. Regla de Minutos (200 min): Cuadre exacto de tiempo de juego.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4. Regla de Marcador: Suma de puntos individual = tanteo final del partido.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5. Coherencia de Posesiones: Bilateralidad de posesiones entre equipos.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48056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Esquema Relacional DuckDB OLAP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Estructura de Almacén Normalizado (12 Tablas):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</a:defRPr>
            </a:pPr>
            <a:r>
              <a:t>• dim_tournament, dim_team, dim_player, dim_coach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</a:defRPr>
            </a:pPr>
            <a:r>
              <a:t>• fact_game (1.145 partidos, fechas, marcadores, ritmo)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</a:defRPr>
            </a:pPr>
            <a:r>
              <a:t>• fact_team_game (2.290 observaciones avanzadas)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</a:defRPr>
            </a:pPr>
            <a:r>
              <a:t>• fact_player_game (27.353 registros individuales)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</a:defRPr>
            </a:pPr>
            <a:r>
              <a:t>• mart_player_roles (3.767 campañas clusterizadas)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</a:defRPr>
            </a:pPr>
            <a:r>
              <a:t>• mart_tactical_video (420 posesiones codificadas)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INTERNATIONAL BASKETBALL ANALYTICS (2005–2024)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Más Allá de los Puntos por Partido (PPG): El Valor Funcional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La Trampa del Volumen Simple (PPG)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Un jugador puede anotar 18 PPG con bajo True Shooting (TS% &lt; 48%) y alto uso de posesiones, restando eficiencia al colectivo.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Los PPG acumulados no consideran el ritmo de posesiones del equipo.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Ignoran la generación indirecta (tiros creados, bloqueos, espaciado).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Ocultan el impacto defensivo y las pérdidas provocadas.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48056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La Descomposición Analítica Completa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✔ Eficiencia de Tiro: eFG% y True Shooting% ponderando el valor del triple.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✔ Ajuste por Posesiones: Estadísticas normalizadas por 40 minutos.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✔ Cuatro Factores de Oliver: Impacto en rebote, pérdidas y faltas.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✔ Gravedad Espacial: Atracción de marcas y liberaciones en pick-and-pop.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✔ Net Rating On/Off: Rendimiento del quinteto con y sin el jugador.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INTERNATIONAL BASKETBALL ANALYTICS (2005–2024)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Los Four Factors de Dean Oliver como Preguntas Tácticas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Effective Field Goal % (eFG%)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0F172A"/>
                </a:solidFill>
              </a:defRPr>
            </a:pPr>
            <a:r>
              <a:t>Pregunta táctica para el cuerpo técnico:</a:t>
            </a:r>
            <a:br/>
            <a:r>
              <a:t>"¿Estamos perdiendo eficiencia por mala selección de tiro o por falta de finalización interior?"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Turnover Rate (TOV%)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24028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0F172A"/>
                </a:solidFill>
              </a:defRPr>
            </a:pPr>
            <a:r>
              <a:t>Pregunta táctica para el cuerpo técnico:</a:t>
            </a:r>
            <a:br/>
            <a:r>
              <a:t>"¿Nuestras pérdidas proceden de pases arriesgados en transición o de colapso ante presión en media pista?"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690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Offensive Rebound % (ORB%)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2628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0F172A"/>
                </a:solidFill>
              </a:defRPr>
            </a:pPr>
            <a:r>
              <a:t>Pregunta táctica para el cuerpo técnico:</a:t>
            </a:r>
            <a:br/>
            <a:r>
              <a:t>"¿Generamos segundas opciones sin comprometer el balance defensivo de repliegue?"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512064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0690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Free Throw Rate (FTR)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52628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0F172A"/>
                </a:solidFill>
              </a:defRPr>
            </a:pPr>
            <a:r>
              <a:t>Pregunta táctica para el cuerpo técnico:</a:t>
            </a:r>
            <a:br/>
            <a:r>
              <a:t>"¿Estamos atacando el aro y cargando de faltas al pívot rival en drop o abusando del tiro exterior?"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INTERNATIONAL BASKETBALL ANALYTICS (2005–2024)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Player Analytics: No Cuánto Produce, sino Qué Función Desempeña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Normalización y Contexto de Uso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Estadísticas Per-40 Minutos: Comparación equitativa neutralizando rotaciones cortas.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Usage Rate (USG%): Volumen de posesiones finalizadas por tiro, falta o pérdida.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Ratio Asistencias / Pérdidas: Control de balón del generador primario.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Estabilidad Longitudinal: Resistencia del perfil individual a través de múltiples torneos.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48056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El Cambio de Paradigma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</a:defRPr>
            </a:pPr>
            <a:r>
              <a:t>El análisis cuantitativo moderno no responde a la pregunta de si un jugador 'es bueno' en términos absolutos.</a:t>
            </a:r>
          </a:p>
          <a:p>
            <a:pPr>
              <a:spcBef>
                <a:spcPts val="1400"/>
              </a:spcBef>
              <a:defRPr sz="1300" b="1">
                <a:solidFill>
                  <a:srgbClr val="0284C7"/>
                </a:solidFill>
              </a:defRPr>
            </a:pPr>
            <a:r>
              <a:t>Responde a:</a:t>
            </a:r>
            <a:br/>
            <a:br/>
            <a:r>
              <a:t>1. ¿Qué rol estadístico desempeña en pista?</a:t>
            </a:r>
            <a:br/>
            <a:r>
              <a:t>2. ¿Qué quintetos maximizan su eficiencia neta?</a:t>
            </a:r>
            <a:br/>
            <a:r>
              <a:t>3. ¿Cómo compensa la estructura del equipo sus puntos débiles?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INTERNATIONAL BASKETBALL ANALYTICS (2005–2024)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Arquetipos Funcionales: Minería No Supervisada en 3.767 Campañas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1. Primary Initiator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402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Alto uso de balón, generación tras bote y tiros en aclarado.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830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2. Movement Spacer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2402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Triples tras recepción, juego indirecto y gravedad perimetral.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7830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3. Interior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22402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Postes dominantes, rebote ofensivo y distribución interior.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338328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690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4. Floor General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5262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Bases directores, control de tempo y ratio AST/TOV de élite.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931920"/>
            <a:ext cx="338328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40690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5. Defensive Anchor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45262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Pívots intimidadores, protección de aro y bloqueo directo.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3931920"/>
            <a:ext cx="338328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40690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6. Balanced Wing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45262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Aleros complementarios con producción bidireccional equilibrada.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INTERNATIONAL BASKETBALL ANALYTICS (2005–2024)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Del Número a la Pista: El Puente entre Estadística y Vídeo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1. Estadística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8600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</a:defRPr>
            </a:pPr>
            <a:r>
              <a:t>Descubre un patrón agregado en los Four Factors (ej. alta eficiencia en tiros de media distancia).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560320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78308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2. Hipótesis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28600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</a:defRPr>
            </a:pPr>
            <a:r>
              <a:t>Plantea qué ajuste táctico rival está generando esa anomalía numérica.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2560320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3. Evidencia Táctica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28600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</a:defRPr>
            </a:pPr>
            <a:r>
              <a:t>Audita la cinta de vídeo bajo protocolo estandarizado (coberturas de bloqueo directo).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645920"/>
            <a:ext cx="2560320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178308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4. Interpretación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228600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</a:defRPr>
            </a:pPr>
            <a:r>
              <a:t>Traduce el hallazgo a una pregunta accionable para la sesión de vídeo del entrenador.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INTERNATIONAL BASKETBALL ANALYTICS (2005–2024)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Validación Táctica: Protocolo y Fiabilidad Inter-Evaluador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Protocolo de Doble Codificación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• Muestra: 420 posesiones observadas en 36 partidos clave.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• Variables: Profundidad de drop coverage en P&amp;R y contestación en closeouts.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• Doble Codificación: Dos analistas independientes evaluando las mismas acciones.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• Fiabilidad Tipo de Acción: Cohen's Kappa κ = 1.00 (acuerdo total).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• Fiabilidad Calificación Defensiva: Cohen's Kappa κ = 0.80 (acuerdo sustancial).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48056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El Valor de la Fiabilidad Científica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0F172A"/>
                </a:solidFill>
              </a:defRPr>
            </a:pPr>
            <a:r>
              <a:t>"Si una observación táctica depende exclusivamente de quién mira el vídeo, es imposible convertirla en evidencia reproducible para un cuerpo técnico."</a:t>
            </a:r>
          </a:p>
          <a:p>
            <a:pPr>
              <a:spcBef>
                <a:spcPts val="1600"/>
              </a:spcBef>
              <a:defRPr sz="1200">
                <a:solidFill>
                  <a:srgbClr val="475569"/>
                </a:solidFill>
              </a:defRPr>
            </a:pPr>
            <a:r>
              <a:t>La capa cualitativa del sistema no es un sustituto del ojo del entrenador: es un protocolo estandarizado para generar hipótesis tácticas contrastables.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INTERNATIONAL BASKETBALL ANALYTICS (2005–2024)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Machine Learning Supervisado: Benchmark y Rendimiento Histórico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29260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Naive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8600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300" b="0">
                <a:solidFill>
                  <a:srgbClr val="0F172A"/>
                </a:solidFill>
              </a:defRPr>
            </a:pPr>
            <a:r>
              <a:t>Brier: 0.2450</a:t>
            </a:r>
          </a:p>
          <a:p>
            <a:pPr>
              <a:spcAft>
                <a:spcPts val="600"/>
              </a:spcAft>
              <a:defRPr sz="1300" b="0">
                <a:solidFill>
                  <a:srgbClr val="0F172A"/>
                </a:solidFill>
              </a:defRPr>
            </a:pPr>
            <a:r>
              <a:t>AUC: 0.5000</a:t>
            </a:r>
          </a:p>
          <a:p>
            <a:pPr>
              <a:spcAft>
                <a:spcPts val="600"/>
              </a:spcAft>
              <a:defRPr sz="1300" b="0">
                <a:solidFill>
                  <a:srgbClr val="0F172A"/>
                </a:solidFill>
              </a:defRPr>
            </a:pPr>
            <a:r>
              <a:t>MAE: 14.82 pts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560320" cy="29260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78308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Logistic Regression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28600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300" b="0">
                <a:solidFill>
                  <a:srgbClr val="0F172A"/>
                </a:solidFill>
              </a:defRPr>
            </a:pPr>
            <a:r>
              <a:t>Brier: 0.2085</a:t>
            </a:r>
          </a:p>
          <a:p>
            <a:pPr>
              <a:spcAft>
                <a:spcPts val="600"/>
              </a:spcAft>
              <a:defRPr sz="1300" b="0">
                <a:solidFill>
                  <a:srgbClr val="0F172A"/>
                </a:solidFill>
              </a:defRPr>
            </a:pPr>
            <a:r>
              <a:t>AUC: 0.7320</a:t>
            </a:r>
          </a:p>
          <a:p>
            <a:pPr>
              <a:spcAft>
                <a:spcPts val="600"/>
              </a:spcAft>
              <a:defRPr sz="1300" b="0">
                <a:solidFill>
                  <a:srgbClr val="0F172A"/>
                </a:solidFill>
              </a:defRPr>
            </a:pPr>
            <a:r>
              <a:t>MAE: 12.45 pts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2560320" cy="29260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ElasticNet Regressor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28600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300" b="0">
                <a:solidFill>
                  <a:srgbClr val="0F172A"/>
                </a:solidFill>
              </a:defRPr>
            </a:pPr>
            <a:r>
              <a:t>Brier: 0.2040</a:t>
            </a:r>
          </a:p>
          <a:p>
            <a:pPr>
              <a:spcAft>
                <a:spcPts val="600"/>
              </a:spcAft>
              <a:defRPr sz="1300" b="0">
                <a:solidFill>
                  <a:srgbClr val="0F172A"/>
                </a:solidFill>
              </a:defRPr>
            </a:pPr>
            <a:r>
              <a:t>AUC: 0.7410</a:t>
            </a:r>
          </a:p>
          <a:p>
            <a:pPr>
              <a:spcAft>
                <a:spcPts val="600"/>
              </a:spcAft>
              <a:defRPr sz="1300" b="0">
                <a:solidFill>
                  <a:srgbClr val="0F172A"/>
                </a:solidFill>
              </a:defRPr>
            </a:pPr>
            <a:r>
              <a:t>MAE: 12.10 pts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645920"/>
            <a:ext cx="2560320" cy="292608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178308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LightGBM Calibrado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228600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Brier: 0.1967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AUC: 0.7613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MAE: 11.739 pts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46320"/>
            <a:ext cx="10728655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98348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Disciplina de Comunicación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257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Estos números describen el rendimiento predictivo retrospectivo bajo este protocolo temporal. No constituyen una afirmación de que el modelo 'adivine' partidos con certeza absoluta.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INTERNATIONAL BASKETBALL ANALYTICS (2005–2024)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Validación Walk-Forward: Cero Fuga de Información del Futuro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17 Folds Temporales Expansivos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Fold 1: Entrena 2005 (T1) ➔ Evalúa 2006 (T2)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Fold 2: Entrena 2005–2006 (T1..T2) ➔ Evalúa 2007 (T3)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Fold 3: Entrena 2005–2007 (T1..T3) ➔ Evalúa 2008 (T4)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...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Fold 17: Entrena 2005–2023 (T1..T17) ➔ Evalúa 2024 (T18)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Total Evaluado Out-of-Sample: 1.105 partidos.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48056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Principio de Honestidad Metodológica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</a:defRPr>
            </a:pPr>
            <a:r>
              <a:t>"El modelo jamás ve el futuro para construir sus predicciones prepartido."</a:t>
            </a:r>
          </a:p>
          <a:p>
            <a:br/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En analítica profesional, prefiero una métrica temporal imperfecta pero honesta a una precisión inflada artificialmente mediante data leakage o mezclas aleatorias (k-fold shuffle).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INTERNATIONAL BASKETBALL ANALYTICS (2005–2024)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Incertidumbre y Calibración: Cuánto Confiar en lo que Dice el Modelo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Calibración Isotónica (ECE = 0.0314)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• Expected Calibration Error (ECE): 0.0314 (3.14% de error medio en probabilidad).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• Brier Score Out-of-Sample: 0.1967 frente al 0.2500 de un modelo aleatorio.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• Significado Práctico: Cuando el sistema asigna un 70% de victoria, el equipo gana empíricamente 7 de cada 10 veces.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• Seguridad de Simulación: Las probabilidades son seguras para propagar a Monte Carlo.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48056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Inferencia y Control de Varianza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✔ Bootstrap por Conglomerados (B=5.000): Intervalos de confianza al 95% preservando correlaciones de torneo.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✔ Permutation Testing (P=10.000): Contrastes de hipótesis no paramétricos sin supuestos gaussianos.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✔ Corrección FDR (Benjamini-Hochberg): Control de tasa de falsos descubrimientos en comparaciones múltiples.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INTERNATIONAL BASKETBALL ANALYTICS (2005–2024)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Atribución TreeSHAP: 'Estas Asociaciones son Predictivas, No Causales'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128016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Aviso Fundamental de Epistemología Analítica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C2626"/>
                </a:solidFill>
              </a:defRPr>
            </a:pPr>
            <a:r>
              <a:t>ESTAS ASOCIACIONES SON PREDICTIVAS, NO CAUSALES. Los valores SHAP explican cómo el algoritmo pondera estadísticamente las variables históricas; no garantizan que una intervención en pista produzca ese efecto.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2560320" cy="29260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3756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Net Rating Diferencial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84048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Mayor contribuyente global al desplazamiento log-odds de probabilidad.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3200400"/>
            <a:ext cx="2560320" cy="29260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333756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Diferencial de eFG%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384048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Impacto masivo de la eficiencia de tiro efectiva en torneos cortos.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200400"/>
            <a:ext cx="2560320" cy="29260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33756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Forma en el Torneo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84048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Ponderación del margen de puntos en la fase de grupos reciente.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3200400"/>
            <a:ext cx="2560320" cy="29260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333756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Turnover Rate (TOV%)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384048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Castigo severo por pérdidas vivas que generan contraataques.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INTERNATIONAL BASKETBALL ANALYTICS (2005–2024)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Simulaciones Monte Carlo: 180.000 Iteraciones de Torneo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El Concepto de la Simulación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49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F172A"/>
                </a:solidFill>
              </a:defRPr>
            </a:pPr>
            <a:r>
              <a:t>PROBABILIDADES CALIBRADAS ➔ 10.000 REPLAYS POR CAMPEONATO ➔ DISTRIBUCIÓN DE AVANCE</a:t>
            </a:r>
            <a:br/>
            <a:br/>
            <a:r>
              <a:t>No intentamos afirmar que 'España tiene exactamente un X% fijo de ganar el oro'. Afirmamos que bajo estas probabilidades calibradas por partido y este formato de eliminatorias, esta es la distribución empírica de escenarios simulados.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256032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Shrinkage de Probabilidad (λ=0.75)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5720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Ajuste conservador para evitar sobreconfianza en favoritos teóricos.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3931920"/>
            <a:ext cx="256032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406908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Propagación de Cuadros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45720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Cálculo de emparejamientos dinámicos según cruces de grupos.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256032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06908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Captura de Oro Top-1: 72.2%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5720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Consistencia retrospectiva en 13 de 18 torneos históricos.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3931920"/>
            <a:ext cx="256032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406908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Captura de Medalla Top-4: 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45720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El medallista real siempre se situó en el Top-4 proyectado.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INTERNATIONAL BASKETBALL ANALYTICS (2005–2024)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¿Por Qué Simular un Torneo? Partido Individual vs. Campeonato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El Partido Individual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300">
                <a:solidFill>
                  <a:srgbClr val="0F172A"/>
                </a:solidFill>
              </a:defRPr>
            </a:pPr>
            <a:r>
              <a:t>• Un partido es un suceso de alta varianza puntual.</a:t>
            </a:r>
          </a:p>
          <a:p>
            <a:pPr>
              <a:spcAft>
                <a:spcPts val="1400"/>
              </a:spcAft>
              <a:defRPr sz="1300">
                <a:solidFill>
                  <a:srgbClr val="0F172A"/>
                </a:solidFill>
              </a:defRPr>
            </a:pPr>
            <a:r>
              <a:t>• Un mal día en el tiro exterior (20% en triples) puede costar la eliminación.</a:t>
            </a:r>
          </a:p>
          <a:p>
            <a:pPr>
              <a:spcAft>
                <a:spcPts val="1400"/>
              </a:spcAft>
              <a:defRPr sz="1300">
                <a:solidFill>
                  <a:srgbClr val="0F172A"/>
                </a:solidFill>
              </a:defRPr>
            </a:pPr>
            <a:r>
              <a:t>• El foco táctico es 100% inmediato: emparejamientos y coberturas específicas.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48056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El Torneo Acumulado (Simulación)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300">
                <a:solidFill>
                  <a:srgbClr val="0F172A"/>
                </a:solidFill>
              </a:defRPr>
            </a:pPr>
            <a:r>
              <a:t>✔ Una victoria o derrota en fase de grupos altera el lado del cuadro.</a:t>
            </a:r>
          </a:p>
          <a:p>
            <a:pPr>
              <a:spcAft>
                <a:spcPts val="1400"/>
              </a:spcAft>
              <a:defRPr sz="1300">
                <a:solidFill>
                  <a:srgbClr val="0F172A"/>
                </a:solidFill>
              </a:defRPr>
            </a:pPr>
            <a:r>
              <a:t>✔ Permite evaluar la probabilidad acumulada de alcanzar Cuartos, Semifinales y Final.</a:t>
            </a:r>
          </a:p>
          <a:p>
            <a:pPr>
              <a:spcAft>
                <a:spcPts val="1400"/>
              </a:spcAft>
              <a:defRPr sz="1300">
                <a:solidFill>
                  <a:srgbClr val="0F172A"/>
                </a:solidFill>
              </a:defRPr>
            </a:pPr>
            <a:r>
              <a:t>✔ Ayuda a directores deportivos a planificar profundidad de plantilla para torneos de 8 partidos en 15 días.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INTERNATIONAL BASKETBALL ANALYTICS (2005–2024)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Del Análisis a la Decisión: 6 Capas de Evidencia Integrada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1. Producción / Eficiencia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402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Four Factors, True Shooting y ritmo.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830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2. Fiabilidad Estadística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2402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Muestras de minutos e intervalos bootstrap.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7830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3. Rol Funcional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22402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Arquetipos y equilibrio posicional en pista.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338328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690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4. Evidencia Táctica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5262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Drop coverage en P&amp;R y velocidad de closeouts.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931920"/>
            <a:ext cx="338328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40690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5. Impacto Predictivo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45262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Probabilidad calibrada y margen esperado ML.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3931920"/>
            <a:ext cx="338328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40690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6. Contexto de Torneo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45262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Simulación de cuadro y opciones de medalla.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INTERNATIONAL BASKETBALL ANALYTICS (2005–2024)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Detección de Contradicciones: 'No Oculto el Conflicto, lo Hago Explícito'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Ejemplo Real de Contradicción Táctica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10149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</a:defRPr>
            </a:pPr>
            <a:r>
              <a:t>BOXSCORE / NÚMEROS AGREGADOS: POSITIVO</a:t>
            </a:r>
            <a:br/>
            <a:r>
              <a:t>EE. UU. promediaba +31.2 puntos de margen en el torneo y el modelo otorgaba 73.2% de favoritismo.</a:t>
            </a:r>
          </a:p>
          <a:p>
            <a:pPr>
              <a:spcBef>
                <a:spcPts val="1200"/>
              </a:spcBef>
              <a:defRPr sz="1300">
                <a:solidFill>
                  <a:srgbClr val="DC2626"/>
                </a:solidFill>
              </a:defRPr>
            </a:pPr>
            <a:r>
              <a:t>CINTA DE VÍDEO TÁCTICO: NEGATIVO / VULNERABLE</a:t>
            </a:r>
            <a:br/>
            <a:r>
              <a:t>El pívot defensor de EE. UU. (Howard) jugaba drop profundo por debajo del tiro libre, concediendo tiros liberados en pick-and-pop a pívots exteriores (Pau y Marc Gasol, Garbajosa).</a:t>
            </a:r>
          </a:p>
          <a:p>
            <a:pPr>
              <a:spcBef>
                <a:spcPts val="1400"/>
              </a:spcBef>
              <a:defRPr sz="1300" b="1">
                <a:solidFill>
                  <a:srgbClr val="0284C7"/>
                </a:solidFill>
              </a:defRPr>
            </a:pPr>
            <a:r>
              <a:t>ACCIÓN DEL ANALISTA:</a:t>
            </a:r>
            <a:br/>
            <a:r>
              <a:t>Superficiar la discrepancia en el Brief Prepartido: Formular la pregunta de si los bases españoles pueden castigar el drop mediante pick-and-pop sin forzar pases interiores arriesgados.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INTERNATIONAL BASKETBALL ANALYTICS (2005–2024)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Caso Real: Final Olímpica de Pekín 2008 (España vs. EE. UU.)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El Estado Prepartido (T-1)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• Precedente: Derrota por 37 puntos (119–82) en fase de grupos.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• Probabilidad Modelo: P(ESP) = 26.8% (Margen esperado: -8.5 pts).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• Hallazgo Four Factors: España tenía Net Rating +4.2 en media pista estática.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• Alerta Táctica: Explotar el pick-and-pop y usar zona 2-3 para frenar la transición.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48056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Resultado y Pensamiento Probabilístico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✔ Marcador Real: USA 118 – ESP 107 (11 puntos de diferencia).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✔ Desarrollo: España aplicó la zona 2-3 y el pick-and-pop, situándose a 4 pts a falta de 2:20.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✔ Incertidumbre: El margen de 11 pts cayó dentro del intervalo bootstrap 95% ([-16.8, +1.2]).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✔ Conclusión: El resultado real no invalida la probabilidad previa: es una realización posible dentro de la distribución.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INTERNATIONAL BASKETBALL ANALYTICS (2005–2024)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Caso Real: EuroBasket 2015 (No Sobrerreaccionar a Muestras Cortas)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La Crisis de Fase de Grupos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Contexto: España sufrió dos derrotas en grupos (vs Serbia e Italia).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Alarma Mediática: Percepción de fin de ciclo y crisis competitiva.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Realidad Numérica: Las derrotas se produjeron por varianza extrema de tiro rival (Italia encestó 57% en triples) manteniendo España un Net Rating positivo.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48056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La Proyección del Sistema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✔ Estabilidad del Modelo: El sistema mantuvo a España como favorito a medalla (67.6% título implícito).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✔ Eje Central: Dominancia absoluta de Pau Gasol como Interior Hub.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✔ Desenlace Real: España ganó el Oro venciendo a Francia y Lituania.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✔ Lección: El analista aporta valor evitando que el staff sobrerreaccione a muestras pequeñas de tiro.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INTERNATIONAL BASKETBALL ANALYTICS (2005–2024)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¿Qué Puede Hacer un Entrenador con Esta Información?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1. Detección de Fugas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402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0F172A"/>
                </a:solidFill>
              </a:defRPr>
            </a:pPr>
            <a:r>
              <a:t>"¿Dónde estamos perdiendo eficiencia neta por posesión?"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830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2. Control de Pérdidas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2402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0F172A"/>
                </a:solidFill>
              </a:defRPr>
            </a:pPr>
            <a:r>
              <a:t>"¿Qué tipo de posesiones generan nuestras pérdidas y permiten contraataques?"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7830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3. Sostenibilidad de Quintetos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22402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0F172A"/>
                </a:solidFill>
              </a:defRPr>
            </a:pPr>
            <a:r>
              <a:t>"¿Qué perfiles de jugador están sosteniendo la producción real?"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338328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690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4. Ajustes Tácticos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5262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0F172A"/>
                </a:solidFill>
              </a:defRPr>
            </a:pPr>
            <a:r>
              <a:t>"¿Qué cambios defensivos son consistentes con el drop del rival?"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931920"/>
            <a:ext cx="338328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40690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5. Sensibilidad de Cuadro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45262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0F172A"/>
                </a:solidFill>
              </a:defRPr>
            </a:pPr>
            <a:r>
              <a:t>"¿Qué escenarios del torneo son especialmente sensibles a un cruce?"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3931920"/>
            <a:ext cx="338328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40690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6. Calidad de Evidencia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45262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0F172A"/>
                </a:solidFill>
              </a:defRPr>
            </a:pPr>
            <a:r>
              <a:t>"¿Qué conclusiones tienen respaldo sólido y cuáles son ruido estadístico?"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INTERNATIONAL BASKETBALL ANALYTICS (2005–2024)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Ejemplo Real de Brief Prepartido para el Cuerpo Técnico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Estructura Estandarizada de 1.5 Páginas (Lectura: 2.5 Minutos)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10149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1. CONTEXTO Y RITMO: Ritmo estimado (72.1 poss), probabilidad base (26.8%) e intervalo empírico.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2. TRES PRIORIDADES: Control de pérdidas en primera línea, forzar tiro exterior y cargar el rebote.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3. CONTRADICCIÓN TÁCTICA: Discrepancia entre favoritismo numérico y vulnerabilidad en drop de P&amp;R.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4. PREGUNTAS PARA LA PIZARRA: ¿Cómo castigamos el espacio del tráiler? ¿Aplicamos zona 2-3 tras canasta?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5. LÍMITES DEL INFORME: La estadística no anticipa rachas de tiro individuales de 8 metros.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INTERNATIONAL BASKETBALL ANALYTICS (2005–2024)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¿Qué Haría Diferente en un Entorno de Club Profesional?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Este Proyecto (Demostración Metodológica)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Datos históricos de selecciones nacionales (2005–2024).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Boxscores oficiales y codificación cualitativa de vídeo.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Torneos cortos de 15 días (6–9 partidos).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Demuestra metodología, ingeniería y pensamiento crítico.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48056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En un Club Real (Despliegue Operativo)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✔ Feeds en vivo de tracking óptico 25Hz (Second Spectrum).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✔ Integración con play-by-play detallado (Synergy Sports).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✔ Datos de carga física y biometría (Catapult GPS / Firstbeat).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✔ Base de datos de contratos y mercado para restricciones salariales.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✔ Ritmo semanal de 2-3 partidos con briefs inmediatos post-shootaround.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INTERNATIONAL BASKETBALL ANALYTICS (2005–2024)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Qué Aportaría al Departamento de Baloncesto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DATA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402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Construcción y mantenimiento de almacenes DuckDB/SQL inmutables y pipelines de QA.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830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ANALYTICS &amp; 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2402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Métricas avanzadas, calibración de modelos y simulaciones Monte Carlo robustas.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7830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BASKETBALL DOMAIN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22402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Traducción fluida de números a conceptos de juego (P&amp;R, Four Factors, espaciado).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338328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690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VALIDATION &amp; QA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5262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Control estricto de fuga de datos, estimación de incertidumbre e integridad.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931920"/>
            <a:ext cx="338328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40690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COMMUNICATION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45262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Informes prepartido concisos para personas que no necesitan ver código.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3931920"/>
            <a:ext cx="338328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40690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DECISION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45262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Transformación de evidencia en opciones tácticas y preguntas de pizarra.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INTERNATIONAL BASKETBALL ANALYTICS (2005–2024)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Lo Que NO Haría: Límites y Madurez Profesional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Líneas Rojas Profesionales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10149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</a:defRPr>
            </a:pPr>
            <a:r>
              <a:t>❌ NO sustituiría la autoridad ni el criterio del entrenador principal.</a:t>
            </a:r>
          </a:p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</a:defRPr>
            </a:pPr>
            <a:r>
              <a:t>❌ NO presentaría una correlación estadística como una relación causal garantizada.</a:t>
            </a:r>
          </a:p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</a:defRPr>
            </a:pPr>
            <a:r>
              <a:t>❌ NO vendería una probabilidad predictiva como una certeza matemática.</a:t>
            </a:r>
          </a:p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</a:defRPr>
            </a:pPr>
            <a:r>
              <a:t>❌ NO ocultaría la incertidumbre estadística ni los intervalos de varianza de tiro.</a:t>
            </a:r>
          </a:p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</a:defRPr>
            </a:pPr>
            <a:r>
              <a:t>❌ NO utilizaría datos del futuro para simular conocimiento retrospectivo (anti-hindsight).</a:t>
            </a:r>
          </a:p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</a:defRPr>
            </a:pPr>
            <a:r>
              <a:t>❌ NO asumiría que un modelo histórico funciona automáticamente en una liga diferente sin calibración local.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INTERNATIONAL BASKETBALL ANALYTICS (2005–2024)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Límites Metodológicos y Alcance del Proyecto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Muestras Cortas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8600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</a:defRPr>
            </a:pPr>
            <a:r>
              <a:t>6–9 partidos por torneo generan varianza natural en porcentajes de tiro.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560320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78308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Sin Tracking 25Hz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28600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</a:defRPr>
            </a:pPr>
            <a:r>
              <a:t>El proyecto no dispone de coordenadas continuas XYZ de cámaras en vivo.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2560320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Rotación de Plantilla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28600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</a:defRPr>
            </a:pPr>
            <a:r>
              <a:t>Las selecciones cambian de convocatoria cada verano a diferencia de clubes.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645920"/>
            <a:ext cx="2560320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178308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Diferencias de Eras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228600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</a:defRPr>
            </a:pPr>
            <a:r>
              <a:t>Impacto de cambios de reglas FIBA (retraso del triple a 6.75m en 2010).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INTERNATIONAL BASKETBALL ANALYTICS (2005–2024)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Estructura del Repositorio e Itinerarios de Revisión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Estructura Limpia del Repositorio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📁 README.md ➔ Puerta de entrada en español.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📁 docs/ ➔ Suite completa de 12 documentos técnicos.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📁 portfolio/ ➔ Caso flagship y guía de figuras.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📁 src/analytics/ ➔ 10 Módulos de analítica y Streamlit.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📁 data/ ➔ Almacén DuckDB y Parquet marts.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📁 tests/ ➔ 21 Módulos pytest (195 tests pasando).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48056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Itinerarios de Lectura Optimizados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300">
                <a:solidFill>
                  <a:srgbClr val="0F172A"/>
                </a:solidFill>
              </a:defRPr>
            </a:pPr>
            <a:r>
              <a:t>⏱️ 2 Minutos ➔ README.md + Resumen en 30s.</a:t>
            </a:r>
          </a:p>
          <a:p>
            <a:pPr>
              <a:spcAft>
                <a:spcPts val="1400"/>
              </a:spcAft>
              <a:defRPr sz="1300">
                <a:solidFill>
                  <a:srgbClr val="0F172A"/>
                </a:solidFill>
              </a:defRPr>
            </a:pPr>
            <a:r>
              <a:t>⏱️ 5 Minutos ➔ Caso Flagship Pekín 2008 + Demo Streamlit.</a:t>
            </a:r>
          </a:p>
          <a:p>
            <a:pPr>
              <a:spcAft>
                <a:spcPts val="1400"/>
              </a:spcAft>
              <a:defRPr sz="1300">
                <a:solidFill>
                  <a:srgbClr val="0F172A"/>
                </a:solidFill>
              </a:defRPr>
            </a:pPr>
            <a:r>
              <a:t>⏱️ 15 Minutos ➔ docs/machine_learning.md + Vídeo.</a:t>
            </a:r>
          </a:p>
          <a:p>
            <a:pPr>
              <a:spcAft>
                <a:spcPts val="1400"/>
              </a:spcAft>
              <a:defRPr sz="1300">
                <a:solidFill>
                  <a:srgbClr val="0F172A"/>
                </a:solidFill>
              </a:defRPr>
            </a:pPr>
            <a:r>
              <a:t>⏱️ 30+ Minutos ➔ Inspección de código SQL/DuckDB y tests.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MI OBJETIVO COMO ANALISTA</a:t>
            </a:r>
          </a:p>
          <a:p>
            <a:pPr>
              <a:spcBef>
                <a:spcPts val="2000"/>
              </a:spcBef>
              <a:defRPr sz="2000" i="1">
                <a:solidFill>
                  <a:srgbClr val="0284C7"/>
                </a:solidFill>
              </a:defRPr>
            </a:pPr>
            <a:r>
              <a:t>"Convertir datos y evidencia de baloncesto en información clara, reproducible y útil para ayudar a tomar mejores decisiones."</a:t>
            </a:r>
          </a:p>
          <a:p>
            <a:pPr>
              <a:spcBef>
                <a:spcPts val="3500"/>
              </a:spcBef>
              <a:defRPr sz="1500" b="1">
                <a:solidFill>
                  <a:srgbClr val="94A3B8"/>
                </a:solidFill>
              </a:defRPr>
            </a:pPr>
            <a:r>
              <a:t>DATOS  ➔  ANÁLISIS  ➔  EVIDENCIA  ➔  CONTEXTO  ➔  SOPORTE A DECISIONES</a:t>
            </a:r>
          </a:p>
          <a:p>
            <a:pPr>
              <a:spcBef>
                <a:spcPts val="2500"/>
              </a:spcBef>
              <a:defRPr sz="1400">
                <a:solidFill>
                  <a:srgbClr val="FFFFFF"/>
                </a:solidFill>
              </a:defRPr>
            </a:pPr>
            <a:r>
              <a:t>El modelo no toma la decisión. Ayuda a que la decisión tenga mejor información detrás.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